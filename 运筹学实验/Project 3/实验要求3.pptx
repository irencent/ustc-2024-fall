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71" r:id="rId5"/>
    <p:sldId id="270" r:id="rId6"/>
    <p:sldId id="266" r:id="rId7"/>
    <p:sldId id="268" r:id="rId8"/>
    <p:sldId id="269" r:id="rId9"/>
    <p:sldId id="267" r:id="rId10"/>
    <p:sldId id="272" r:id="rId11"/>
    <p:sldId id="261" r:id="rId12"/>
    <p:sldId id="273" r:id="rId13"/>
    <p:sldId id="259" r:id="rId14"/>
    <p:sldId id="260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士祥 陈" initials="士祥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23"/>
  </p:normalViewPr>
  <p:slideViewPr>
    <p:cSldViewPr snapToGrid="0">
      <p:cViewPr varScale="1">
        <p:scale>
          <a:sx n="78" d="100"/>
          <a:sy n="78" d="100"/>
        </p:scale>
        <p:origin x="52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AD8624B-8C88-4DFD-B7B4-6FD6998189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E716328-62E4-4552-AA2B-109F44681A74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624B-8C88-4DFD-B7B4-6FD6998189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16328-62E4-4552-AA2B-109F44681A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624B-8C88-4DFD-B7B4-6FD6998189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16328-62E4-4552-AA2B-109F44681A74}" type="slidenum">
              <a:rPr lang="zh-CN" altLang="en-US" smtClean="0"/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624B-8C88-4DFD-B7B4-6FD6998189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16328-62E4-4552-AA2B-109F44681A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624B-8C88-4DFD-B7B4-6FD6998189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16328-62E4-4552-AA2B-109F44681A74}" type="slidenum">
              <a:rPr lang="zh-CN" altLang="en-US" smtClean="0"/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624B-8C88-4DFD-B7B4-6FD6998189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16328-62E4-4552-AA2B-109F44681A74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624B-8C88-4DFD-B7B4-6FD6998189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16328-62E4-4552-AA2B-109F44681A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624B-8C88-4DFD-B7B4-6FD6998189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16328-62E4-4552-AA2B-109F44681A74}" type="slidenum">
              <a:rPr lang="zh-CN" altLang="en-US" smtClean="0"/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624B-8C88-4DFD-B7B4-6FD6998189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16328-62E4-4552-AA2B-109F44681A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624B-8C88-4DFD-B7B4-6FD6998189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16328-62E4-4552-AA2B-109F44681A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624B-8C88-4DFD-B7B4-6FD6998189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16328-62E4-4552-AA2B-109F44681A74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624B-8C88-4DFD-B7B4-6FD6998189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16328-62E4-4552-AA2B-109F44681A7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624B-8C88-4DFD-B7B4-6FD6998189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16328-62E4-4552-AA2B-109F44681A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624B-8C88-4DFD-B7B4-6FD6998189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16328-62E4-4552-AA2B-109F44681A7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624B-8C88-4DFD-B7B4-6FD6998189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16328-62E4-4552-AA2B-109F44681A74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624B-8C88-4DFD-B7B4-6FD6998189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16328-62E4-4552-AA2B-109F44681A74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624B-8C88-4DFD-B7B4-6FD6998189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16328-62E4-4552-AA2B-109F44681A74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4.png"/><Relationship Id="rId18" Type="http://schemas.openxmlformats.org/officeDocument/2006/relationships/image" Target="../media/image3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AD8624B-8C88-4DFD-B7B4-6FD6998189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E716328-62E4-4552-AA2B-109F44681A7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704020202020204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704020202020204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704020202020204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704020202020204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7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7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7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7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7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2.mathworks.cn/help/matlab/matlab_prog/techniques-for-improving-performance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77415" y="982132"/>
            <a:ext cx="9601196" cy="1303867"/>
          </a:xfrm>
        </p:spPr>
        <p:txBody>
          <a:bodyPr>
            <a:normAutofit/>
          </a:bodyPr>
          <a:lstStyle/>
          <a:p>
            <a:pPr algn="l"/>
            <a:r>
              <a:rPr lang="en-US" altLang="zh-CN" b="1" i="0" dirty="0">
                <a:solidFill>
                  <a:schemeClr val="accent1"/>
                </a:solidFill>
                <a:effectLst/>
                <a:latin typeface="Söhne"/>
              </a:rPr>
              <a:t> Overview of Logistic Regression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en-US" altLang="zh-CN" b="1" i="0" dirty="0">
                    <a:solidFill>
                      <a:srgbClr val="374151"/>
                    </a:solidFill>
                    <a:effectLst/>
                    <a:latin typeface="Söhne"/>
                  </a:rPr>
                  <a:t>What is Logistic Regression loss?</a:t>
                </a:r>
                <a:endParaRPr lang="en-US" altLang="zh-CN" b="0" i="0" dirty="0">
                  <a:solidFill>
                    <a:srgbClr val="374151"/>
                  </a:solidFill>
                  <a:effectLst/>
                  <a:latin typeface="Söhne"/>
                </a:endParaRPr>
              </a:p>
              <a:p>
                <a:pPr algn="l">
                  <a:buFont typeface="Arial" panose="020B0704020202020204" pitchFamily="34" charset="0"/>
                  <a:buChar char="•"/>
                </a:pPr>
                <a:endParaRPr lang="en-US" altLang="zh-CN" b="1" i="0" dirty="0">
                  <a:solidFill>
                    <a:srgbClr val="374151"/>
                  </a:solidFill>
                  <a:effectLst/>
                  <a:latin typeface="Söhne"/>
                </a:endParaRPr>
              </a:p>
              <a:p>
                <a:pPr algn="l">
                  <a:buFont typeface="Arial" panose="020B0704020202020204" pitchFamily="34" charset="0"/>
                  <a:buChar char="•"/>
                </a:pPr>
                <a:endParaRPr lang="en-US" altLang="zh-CN" b="1" dirty="0">
                  <a:solidFill>
                    <a:srgbClr val="374151"/>
                  </a:solidFill>
                  <a:latin typeface="Söhne"/>
                </a:endParaRPr>
              </a:p>
              <a:p>
                <a:pPr algn="l">
                  <a:buFont typeface="Wingdings" panose="05000000000000000000" pitchFamily="2" charset="2"/>
                  <a:buChar char="Ø"/>
                </a:pPr>
                <a:r>
                  <a:rPr lang="zh-CN" altLang="en-US" sz="1600" b="1" dirty="0">
                    <a:solidFill>
                      <a:srgbClr val="37415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其中，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60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,+</m:t>
                        </m:r>
                        <m:r>
                          <a:rPr lang="en-US" altLang="zh-CN" sz="160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1600" b="1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600" b="1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600" b="1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zh-CN" sz="1600" b="1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1600" b="1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1600" b="1" i="1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1600" b="1" i="0" dirty="0">
                    <a:solidFill>
                      <a:srgbClr val="374151"/>
                    </a:solidFill>
                    <a:effectLst/>
                    <a:latin typeface="楷体" panose="02010609060101010101" pitchFamily="49" charset="-122"/>
                    <a:ea typeface="楷体" panose="02010609060101010101" pitchFamily="49" charset="-122"/>
                  </a:rPr>
                  <a:t>给定的数据，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1600" b="1" i="1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1600" b="1" i="1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sz="1600" b="1" i="0" dirty="0">
                    <a:solidFill>
                      <a:srgbClr val="374151"/>
                    </a:solidFill>
                    <a:effectLst/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1600" b="1" i="0" dirty="0">
                    <a:solidFill>
                      <a:srgbClr val="374151"/>
                    </a:solidFill>
                    <a:effectLst/>
                    <a:latin typeface="楷体" panose="02010609060101010101" pitchFamily="49" charset="-122"/>
                    <a:ea typeface="楷体" panose="02010609060101010101" pitchFamily="49" charset="-122"/>
                  </a:rPr>
                  <a:t>是给定的正数。</a:t>
                </a:r>
                <a:endParaRPr lang="en-US" altLang="zh-CN" sz="1600" b="1" i="0" dirty="0">
                  <a:solidFill>
                    <a:srgbClr val="374151"/>
                  </a:solidFill>
                  <a:effectLst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 algn="l">
                  <a:buNone/>
                </a:pPr>
                <a:endParaRPr lang="en-US" altLang="zh-CN" b="1" i="0" dirty="0">
                  <a:solidFill>
                    <a:srgbClr val="374151"/>
                  </a:solidFill>
                  <a:effectLst/>
                  <a:latin typeface="Söhne"/>
                </a:endParaRPr>
              </a:p>
              <a:p>
                <a:pPr marL="0" indent="0" algn="l">
                  <a:buNone/>
                </a:pPr>
                <a:r>
                  <a:rPr lang="en-US" altLang="zh-CN" b="1" i="0" dirty="0">
                    <a:solidFill>
                      <a:srgbClr val="374151"/>
                    </a:solidFill>
                    <a:effectLst/>
                    <a:latin typeface="Söhne"/>
                  </a:rPr>
                  <a:t>Application</a:t>
                </a:r>
                <a:endParaRPr lang="en-US" altLang="zh-CN" b="0" i="0" dirty="0">
                  <a:solidFill>
                    <a:srgbClr val="374151"/>
                  </a:solidFill>
                  <a:effectLst/>
                  <a:latin typeface="Söhne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1400" dirty="0"/>
                  <a:t>应用于二分类问题。</a:t>
                </a:r>
                <a:endParaRPr lang="zh-CN" altLang="en-US" sz="1400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3" r="7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2753033" y="2850895"/>
                <a:ext cx="6096000" cy="848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lim>
                          </m:limLow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800" b="0" i="0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800" b="0" i="0" smtClean="0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(−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))+</m:t>
                                      </m:r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func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033" y="2850895"/>
                <a:ext cx="6096000" cy="848566"/>
              </a:xfrm>
              <a:prstGeom prst="rect">
                <a:avLst/>
              </a:prstGeom>
              <a:blipFill rotWithShape="1">
                <a:blip r:embed="rId2"/>
                <a:stretch>
                  <a:fillRect l="-5" t="-45" r="5" b="6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10609383" cy="1303867"/>
          </a:xfrm>
        </p:spPr>
        <p:txBody>
          <a:bodyPr>
            <a:normAutofit/>
          </a:bodyPr>
          <a:lstStyle/>
          <a:p>
            <a:pPr algn="l"/>
            <a:r>
              <a:rPr lang="en-US" altLang="zh-CN" b="1" i="0" dirty="0">
                <a:effectLst/>
                <a:latin typeface="Söhne"/>
              </a:rPr>
              <a:t> The Mathematics Behind Logistic Regression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0000" lnSpcReduction="20000"/>
              </a:bodyPr>
              <a:lstStyle/>
              <a:p>
                <a:pPr marL="0" indent="0">
                  <a:buNone/>
                </a:pP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sz="29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计算函数值：</a:t>
                </a:r>
                <a:endParaRPr lang="en-US" altLang="zh-CN" sz="2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900" dirty="0">
                    <a:solidFill>
                      <a:schemeClr val="accent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令 </a:t>
                </a:r>
                <a:r>
                  <a:rPr lang="en-US" altLang="zh-CN" sz="2900" dirty="0">
                    <a:solidFill>
                      <a:schemeClr val="accent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9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9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9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9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29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9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9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9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num>
                          <m:den>
                            <m:eqArr>
                              <m:eqArrPr>
                                <m:ctrlPr>
                                  <a:rPr lang="en-US" altLang="zh-CN" sz="29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Sup>
                                  <m:sSubSupPr>
                                    <m:ctrlPr>
                                      <a:rPr lang="en-US" altLang="zh-CN" sz="29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9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9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9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altLang="zh-CN" sz="29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29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9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9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altLang="zh-CN" sz="29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eqArr>
                          </m:den>
                        </m:f>
                      </m:e>
                    </m:d>
                  </m:oMath>
                </a14:m>
                <a:r>
                  <a:rPr lang="en-US" altLang="zh-CN" sz="2900" dirty="0">
                    <a:solidFill>
                      <a:schemeClr val="accent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9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9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9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9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9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9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9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eqArr>
                              <m:eqArrPr>
                                <m:ctrlPr>
                                  <a:rPr lang="en-US" altLang="zh-CN" sz="29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altLang="zh-CN" sz="29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9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9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9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9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9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9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eqArr>
                          </m:den>
                        </m:f>
                      </m:e>
                    </m:d>
                  </m:oMath>
                </a14:m>
                <a:endParaRPr lang="en-US" altLang="zh-CN" sz="2900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9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先计算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9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9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9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:r>
                  <a:rPr lang="zh-CN" altLang="en-US" sz="29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再计算 </a:t>
                </a:r>
                <a14:m>
                  <m:oMath xmlns:m="http://schemas.openxmlformats.org/officeDocument/2006/math">
                    <m:r>
                      <a:rPr lang="en-US" altLang="zh-CN" sz="29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900" b="0" i="1" smtClean="0">
                        <a:latin typeface="Cambria Math" panose="02040503050406030204" pitchFamily="18" charset="0"/>
                      </a:rPr>
                      <m:t>.∗</m:t>
                    </m:r>
                    <m:d>
                      <m:dPr>
                        <m:ctrlP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  <m:t>𝐴𝑥</m:t>
                        </m:r>
                      </m:e>
                    </m:d>
                    <m:r>
                      <a:rPr lang="en-US" altLang="zh-CN" sz="29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zh-CN" sz="29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29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得到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9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9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2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9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9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altLang="zh-CN" sz="29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eqArr>
                              <m:eqArrPr>
                                <m:ctrlPr>
                                  <a:rPr lang="en-US" altLang="zh-CN" sz="2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Sup>
                                  <m:sSubSupPr>
                                    <m:ctrlP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en-US" altLang="zh-CN" sz="2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9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altLang="zh-CN" sz="29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zh-CN" sz="29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altLang="zh-CN" sz="29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eqArr>
                          </m:den>
                        </m:f>
                      </m:e>
                    </m:d>
                  </m:oMath>
                </a14:m>
                <a:endParaRPr lang="en-US" altLang="zh-CN" sz="2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altLang="zh-CN" sz="29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MATLAB</a:t>
                </a:r>
                <a:r>
                  <a:rPr lang="zh-CN" altLang="en-US" sz="29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中，</a:t>
                </a:r>
                <a:r>
                  <a:rPr lang="en-US" altLang="zh-CN" sz="29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exp </a:t>
                </a:r>
                <a:r>
                  <a:rPr lang="zh-CN" altLang="en-US" sz="29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函数变量为向量时，表示对每个分量分别求指数：</a:t>
                </a:r>
                <a:endParaRPr lang="en-US" altLang="zh-CN" sz="2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9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:endParaRPr lang="en-US" altLang="zh-CN" sz="2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sz="2900" b="0" dirty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unc>
                          <m:funcPr>
                            <m:ctrlPr>
                              <a:rPr lang="en-US" altLang="zh-CN" sz="29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9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altLang="zh-CN" sz="29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9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9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altLang="zh-CN" sz="2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900" b="0" i="0" smtClean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r>
                                  <a:rPr lang="en-US" altLang="zh-CN" sz="2900" b="0" i="1" smtClean="0">
                                    <a:latin typeface="Cambria Math" panose="02040503050406030204" pitchFamily="18" charset="0"/>
                                  </a:rPr>
                                  <m:t>(−</m:t>
                                </m:r>
                                <m:sSub>
                                  <m:sSubPr>
                                    <m:ctrlP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CN" sz="29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altLang="zh-CN" sz="29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e>
                    </m:nary>
                    <m:r>
                      <a:rPr lang="en-US" altLang="zh-CN" sz="2900" b="0" i="1" smtClean="0">
                        <a:latin typeface="Cambria Math" panose="02040503050406030204" pitchFamily="18" charset="0"/>
                      </a:rPr>
                      <m:t>))=</m:t>
                    </m:r>
                    <m:f>
                      <m:fPr>
                        <m:ctrlP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zh-CN" sz="2900" b="0" i="1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altLang="zh-CN" sz="29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9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altLang="zh-CN" sz="29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900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9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US" altLang="zh-CN" sz="29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altLang="zh-CN" sz="29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9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9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29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9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9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9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sz="29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en-US" altLang="zh-CN" sz="29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eqArr>
                                      <m:eqArrPr>
                                        <m:ctrlPr>
                                          <a:rPr lang="en-US" altLang="zh-CN" sz="29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CN" sz="29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900" b="0" i="1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900" b="0" i="1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n-US" altLang="zh-CN" sz="2900" b="0" i="1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900" b="0" i="1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9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9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9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sz="29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e>
                                        <m:r>
                                          <a:rPr lang="en-US" altLang="zh-CN" sz="29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  <m:e>
                                        <m:r>
                                          <a:rPr lang="en-US" altLang="zh-CN" sz="29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9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9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9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zh-CN" sz="29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9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9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9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sz="29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eqArr>
                                  </m:den>
                                </m:f>
                              </m:e>
                            </m:d>
                            <m:r>
                              <a:rPr lang="en-US" altLang="zh-CN" sz="2900" b="0" i="1" smtClean="0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</m:func>
                      </m:e>
                    </m:func>
                  </m:oMath>
                </a14:m>
                <a:endParaRPr lang="zh-CN" altLang="en-US" sz="2900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3" r="7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2861187" y="2378947"/>
                <a:ext cx="6096000" cy="848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lim>
                          </m:limLow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800" b="0" i="0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800" b="0" i="0" smtClean="0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(−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))+</m:t>
                                      </m:r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func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187" y="2378947"/>
                <a:ext cx="6096000" cy="848566"/>
              </a:xfrm>
              <a:prstGeom prst="rect">
                <a:avLst/>
              </a:prstGeom>
              <a:blipFill rotWithShape="1">
                <a:blip r:embed="rId2"/>
                <a:stretch>
                  <a:fillRect l="-8" t="-28" r="8" b="5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700548" y="1029213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3200" dirty="0">
                    <a:latin typeface="Arial" panose="020B0704020202020204" pitchFamily="34" charset="0"/>
                    <a:cs typeface="Arial" panose="020B0704020202020204" pitchFamily="34" charset="0"/>
                  </a:rPr>
                  <a:t>计算梯度</a:t>
                </a:r>
                <a:endParaRPr lang="en-US" altLang="zh-CN" sz="2000" dirty="0">
                  <a:latin typeface="Arial" panose="020B0704020202020204" pitchFamily="34" charset="0"/>
                  <a:cs typeface="Arial" panose="020B0704020202020204" pitchFamily="34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Arial" panose="020B0704020202020204" pitchFamily="34" charset="0"/>
                  <a:cs typeface="Arial" panose="020B0704020202020204" pitchFamily="34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Arial" panose="020B0704020202020204" pitchFamily="34" charset="0"/>
                  <a:cs typeface="Arial" panose="020B0704020202020204" pitchFamily="34" charset="0"/>
                </a:endParaRPr>
              </a:p>
              <a:p>
                <a:pPr marL="0" indent="0">
                  <a:buNone/>
                </a:pPr>
                <a:r>
                  <a:rPr lang="zh-CN" altLang="en-US" sz="2000" dirty="0">
                    <a:latin typeface="Arial" panose="020B0704020202020204" pitchFamily="34" charset="0"/>
                    <a:cs typeface="Arial" panose="020B0704020202020204" pitchFamily="34" charset="0"/>
                  </a:rPr>
                  <a:t>       令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altLang="zh-CN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eqArr>
                                  <m:eqArrPr>
                                    <m:ctrlP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eqAr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zh-CN" altLang="en-US" sz="2000" dirty="0">
                  <a:latin typeface="Arial" panose="020B0704020202020204" pitchFamily="34" charset="0"/>
                  <a:cs typeface="Arial" panose="020B0704020202020204" pitchFamily="3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548" y="1029213"/>
                <a:ext cx="10515600" cy="4351338"/>
              </a:xfrm>
              <a:blipFill rotWithShape="1">
                <a:blip r:embed="rId1"/>
                <a:stretch>
                  <a:fillRect l="-1" t="-143" r="1" b="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172497" y="3792510"/>
                <a:ext cx="7135762" cy="21648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000" b="0" dirty="0">
                    <a:latin typeface="Arial" panose="020B0704020202020204" pitchFamily="34" charset="0"/>
                    <a:cs typeface="Arial" panose="020B07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0" dirty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</m:e>
                    </m:nary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sz="2000" b="0" i="1" dirty="0">
                  <a:latin typeface="Arial" panose="020B0704020202020204" pitchFamily="34" charset="0"/>
                  <a:cs typeface="Arial" panose="020B0704020202020204" pitchFamily="34" charset="0"/>
                </a:endParaRPr>
              </a:p>
              <a:p>
                <a:r>
                  <a:rPr lang="en-US" altLang="zh-CN" sz="2000" b="0" dirty="0">
                    <a:latin typeface="Arial" panose="020B0704020202020204" pitchFamily="34" charset="0"/>
                    <a:cs typeface="Arial" panose="020B0704020202020204" pitchFamily="34" charset="0"/>
                  </a:rPr>
                  <a:t>           =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</m:e>
                    </m:nary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sz="2000" dirty="0">
                  <a:latin typeface="Arial" panose="020B0704020202020204" pitchFamily="34" charset="0"/>
                  <a:cs typeface="Arial" panose="020B0704020202020204" pitchFamily="34" charset="0"/>
                </a:endParaRPr>
              </a:p>
              <a:p>
                <a:r>
                  <a:rPr lang="en-US" altLang="zh-CN" sz="2000" dirty="0">
                    <a:latin typeface="Arial" panose="020B0704020202020204" pitchFamily="34" charset="0"/>
                    <a:cs typeface="Arial" panose="020B0704020202020204" pitchFamily="34" charset="0"/>
                  </a:rPr>
                  <a:t>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zh-CN" sz="200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20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zh-CN" sz="20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sz="20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func>
                              </m:den>
                            </m:f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sz="2000" dirty="0">
                  <a:latin typeface="Arial" panose="020B0704020202020204" pitchFamily="34" charset="0"/>
                  <a:cs typeface="Arial" panose="020B0704020202020204" pitchFamily="34" charset="0"/>
                </a:endParaRPr>
              </a:p>
              <a:p>
                <a:r>
                  <a:rPr lang="en-US" altLang="zh-CN" sz="2000" dirty="0">
                    <a:latin typeface="Arial" panose="020B0704020202020204" pitchFamily="34" charset="0"/>
                    <a:cs typeface="Arial" panose="020B0704020202020204" pitchFamily="34" charset="0"/>
                  </a:rPr>
                  <a:t>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➗</m:t>
                        </m:r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（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sz="2000" dirty="0">
                  <a:latin typeface="Arial" panose="020B0704020202020204" pitchFamily="34" charset="0"/>
                  <a:cs typeface="Arial" panose="020B0704020202020204" pitchFamily="3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497" y="3792510"/>
                <a:ext cx="7135762" cy="2164823"/>
              </a:xfrm>
              <a:prstGeom prst="rect">
                <a:avLst/>
              </a:prstGeom>
              <a:blipFill rotWithShape="1">
                <a:blip r:embed="rId2"/>
                <a:stretch>
                  <a:fillRect l="-4" t="-13" r="8" b="1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7079226" y="3580656"/>
            <a:ext cx="32249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向量化计算，不写</a:t>
            </a:r>
            <a:r>
              <a:rPr lang="en-US" altLang="zh-CN" dirty="0">
                <a:highlight>
                  <a:srgbClr val="00FF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for </a:t>
            </a:r>
            <a:r>
              <a:rPr lang="zh-CN" altLang="en-US" dirty="0">
                <a:highlight>
                  <a:srgbClr val="00FF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循环</a:t>
            </a:r>
            <a:endParaRPr lang="en-US" altLang="zh-CN" dirty="0">
              <a:highlight>
                <a:srgbClr val="00FFFF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highlight>
                  <a:srgbClr val="00FF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不重复计算，</a:t>
            </a:r>
            <a:r>
              <a:rPr lang="zh-CN" altLang="en-US">
                <a:highlight>
                  <a:srgbClr val="00FF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保存需要再使用的</a:t>
            </a:r>
            <a:r>
              <a:rPr lang="zh-CN" altLang="en-US" dirty="0">
                <a:highlight>
                  <a:srgbClr val="00FF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endParaRPr lang="zh-CN" altLang="en-US" dirty="0">
              <a:highlight>
                <a:srgbClr val="00FFFF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Backtracking </a:t>
            </a:r>
            <a:r>
              <a:rPr lang="en-US" altLang="zh-CN" dirty="0" err="1"/>
              <a:t>linesearch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7492182" y="2998839"/>
                <a:ext cx="32249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highlight>
                      <a:srgbClr val="00FFFF"/>
                    </a:highlight>
                    <a:latin typeface="楷体" panose="02010609060101010101" pitchFamily="49" charset="-122"/>
                    <a:ea typeface="楷体" panose="02010609060101010101" pitchFamily="49" charset="-122"/>
                  </a:rPr>
                  <a:t>手动调整参数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highlight>
                          <a:srgbClr val="00FFFF"/>
                        </a:highlight>
                        <a:latin typeface="Cambria Math" panose="02040503050406030204" pitchFamily="18" charset="0"/>
                      </a:rPr>
                      <m:t>𝛾</m:t>
                    </m:r>
                    <m:r>
                      <a:rPr lang="zh-CN" altLang="en-US" i="1">
                        <a:highlight>
                          <a:srgbClr val="00FFFF"/>
                        </a:highlight>
                        <a:latin typeface="Cambria Math" panose="02040503050406030204" pitchFamily="18" charset="0"/>
                      </a:rPr>
                      <m:t>和</m:t>
                    </m:r>
                  </m:oMath>
                </a14:m>
                <a:r>
                  <a:rPr lang="en-US" altLang="zh-CN" dirty="0">
                    <a:highlight>
                      <a:srgbClr val="00FFFF"/>
                    </a:highlight>
                    <a:latin typeface="楷体" panose="02010609060101010101" pitchFamily="49" charset="-122"/>
                    <a:ea typeface="楷体" panose="02010609060101010101" pitchFamily="49" charset="-122"/>
                  </a:rPr>
                  <a:t>c,</a:t>
                </a:r>
                <a:r>
                  <a:rPr lang="zh-CN" altLang="en-US" dirty="0">
                    <a:highlight>
                      <a:srgbClr val="00FFFF"/>
                    </a:highlight>
                    <a:latin typeface="楷体" panose="02010609060101010101" pitchFamily="49" charset="-122"/>
                    <a:ea typeface="楷体" panose="02010609060101010101" pitchFamily="49" charset="-122"/>
                  </a:rPr>
                  <a:t>估计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 dirty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dirty="0">
                  <a:highlight>
                    <a:srgbClr val="00FFFF"/>
                  </a:highlight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highlight>
                      <a:srgbClr val="00FFFF"/>
                    </a:highlight>
                    <a:latin typeface="楷体" panose="02010609060101010101" pitchFamily="49" charset="-122"/>
                    <a:ea typeface="楷体" panose="02010609060101010101" pitchFamily="49" charset="-122"/>
                  </a:rPr>
                  <a:t>设置步长搜索下界</a:t>
                </a:r>
                <a:endParaRPr lang="en-US" altLang="zh-CN" dirty="0">
                  <a:highlight>
                    <a:srgbClr val="00FFFF"/>
                  </a:highlight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2182" y="2998839"/>
                <a:ext cx="3224980" cy="646331"/>
              </a:xfrm>
              <a:prstGeom prst="rect">
                <a:avLst/>
              </a:prstGeom>
              <a:blipFill rotWithShape="1">
                <a:blip r:embed="rId1"/>
                <a:stretch>
                  <a:fillRect l="-14" t="-57" r="8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700982" y="2721839"/>
                <a:ext cx="579120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选取初始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latin typeface="Cambria Math" panose="02040503050406030204" pitchFamily="18" charset="0"/>
                      </a:rPr>
                      <m:t>步长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buAutoNum type="arabicPeriod"/>
                </a:pPr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buAutoNum type="arabicPeriod"/>
                </a:pP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找到最小的正数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3.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更新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982" y="2721839"/>
                <a:ext cx="5791200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8" t="-13" r="8" b="-1147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代码规范要求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704020202020204" pitchFamily="34" charset="0"/>
              <a:buChar char="•"/>
            </a:pPr>
            <a:r>
              <a:rPr lang="zh-CN" altLang="en-US" i="0" dirty="0">
                <a:solidFill>
                  <a:srgbClr val="374151"/>
                </a:solidFill>
                <a:effectLst/>
                <a:latin typeface="华文宋体" panose="02010600040101010101" pitchFamily="2" charset="-122"/>
                <a:ea typeface="华文宋体" panose="02010600040101010101" pitchFamily="2" charset="-122"/>
              </a:rPr>
              <a:t>注释</a:t>
            </a:r>
            <a:r>
              <a:rPr lang="en-US" altLang="zh-CN" i="0" dirty="0">
                <a:solidFill>
                  <a:srgbClr val="374151"/>
                </a:solidFill>
                <a:effectLst/>
                <a:latin typeface="华文宋体" panose="02010600040101010101" pitchFamily="2" charset="-122"/>
                <a:ea typeface="华文宋体" panose="02010600040101010101" pitchFamily="2" charset="-122"/>
              </a:rPr>
              <a:t>: </a:t>
            </a:r>
            <a:endParaRPr lang="en-US" altLang="zh-CN" i="0" dirty="0">
              <a:solidFill>
                <a:srgbClr val="374151"/>
              </a:solidFill>
              <a:effectLst/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lvl="1">
              <a:buFont typeface="Arial" panose="020B0704020202020204" pitchFamily="34" charset="0"/>
              <a:buChar char="•"/>
            </a:pPr>
            <a:r>
              <a:rPr lang="zh-CN" altLang="en-US" sz="1400" i="0" dirty="0">
                <a:solidFill>
                  <a:srgbClr val="37415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通过注释解释每块代码的意义。</a:t>
            </a:r>
            <a:r>
              <a:rPr lang="zh-CN" altLang="en-US" sz="1400" i="0" dirty="0">
                <a:solidFill>
                  <a:srgbClr val="40404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分别从做什么、为什么、怎么做 来进行注释。结构体和函数一定要写注释，而且要写得尽可能全面、详细，而函数内部的注释要相对少一些，一般都是靠好的命名、提炼函数、解释性变量、总结性注释来提高代码可读性。</a:t>
            </a:r>
            <a:endParaRPr lang="en-US" altLang="zh-CN" sz="1400" i="0" dirty="0">
              <a:solidFill>
                <a:srgbClr val="37415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zh-CN" altLang="en-US" i="0" dirty="0">
                <a:solidFill>
                  <a:srgbClr val="374151"/>
                </a:solidFill>
                <a:effectLst/>
                <a:latin typeface="华文宋体" panose="02010600040101010101" pitchFamily="2" charset="-122"/>
                <a:ea typeface="华文宋体" panose="02010600040101010101" pitchFamily="2" charset="-122"/>
              </a:rPr>
              <a:t>可读性</a:t>
            </a:r>
            <a:r>
              <a:rPr lang="en-US" altLang="zh-CN" i="0" dirty="0">
                <a:solidFill>
                  <a:srgbClr val="374151"/>
                </a:solidFill>
                <a:effectLst/>
                <a:latin typeface="华文宋体" panose="02010600040101010101" pitchFamily="2" charset="-122"/>
                <a:ea typeface="华文宋体" panose="02010600040101010101" pitchFamily="2" charset="-122"/>
              </a:rPr>
              <a:t>: </a:t>
            </a:r>
            <a:endParaRPr lang="en-US" altLang="zh-CN" i="0" dirty="0">
              <a:solidFill>
                <a:srgbClr val="374151"/>
              </a:solidFill>
              <a:effectLst/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lvl="1">
              <a:buFont typeface="Arial" panose="020B0704020202020204" pitchFamily="34" charset="0"/>
              <a:buChar char="•"/>
            </a:pPr>
            <a:r>
              <a:rPr lang="zh-CN" altLang="en-US" sz="1400" i="0" dirty="0">
                <a:solidFill>
                  <a:srgbClr val="37415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使用规范的文件名、函数名、变量名增加代码的可读性</a:t>
            </a:r>
            <a:endParaRPr lang="en-US" altLang="zh-CN" sz="1400" i="0" dirty="0">
              <a:solidFill>
                <a:srgbClr val="37415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zh-CN" altLang="en-US" dirty="0">
                <a:solidFill>
                  <a:srgbClr val="37415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格式要求：</a:t>
            </a:r>
            <a:endParaRPr lang="en-US" altLang="zh-CN" dirty="0">
              <a:solidFill>
                <a:srgbClr val="374151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lvl="1">
              <a:buFont typeface="Arial" panose="020B0704020202020204" pitchFamily="34" charset="0"/>
              <a:buChar char="•"/>
            </a:pPr>
            <a:r>
              <a:rPr lang="zh-CN" altLang="en-US" sz="1400" dirty="0">
                <a:solidFill>
                  <a:srgbClr val="37415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注意缩进、对齐等；一行只做一件事。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代码结构和组织</a:t>
            </a:r>
            <a:endParaRPr lang="zh-CN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328781"/>
            <a:ext cx="9773509" cy="3109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华文宋体" panose="02010600040101010101" pitchFamily="2" charset="-122"/>
                <a:ea typeface="华文宋体" panose="02010600040101010101" pitchFamily="2" charset="-122"/>
              </a:rPr>
              <a:t>模块化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华文宋体" panose="02010600040101010101" pitchFamily="2" charset="-122"/>
                <a:ea typeface="华文宋体" panose="02010600040101010101" pitchFamily="2" charset="-122"/>
              </a:rPr>
              <a:t>: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1400" b="0" i="0" dirty="0">
                <a:solidFill>
                  <a:srgbClr val="40404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善于将代码中的模块进行抽象，能够方便我们的阅读</a:t>
            </a:r>
            <a:r>
              <a:rPr lang="zh-CN" altLang="zh-CN" sz="1400" dirty="0">
                <a:solidFill>
                  <a:srgbClr val="37415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(e.g., objective function, gradient calculation, BFGS update).</a:t>
            </a:r>
            <a:endParaRPr lang="en-US" altLang="zh-CN" sz="1400" dirty="0">
              <a:solidFill>
                <a:srgbClr val="37415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1400" dirty="0">
                <a:solidFill>
                  <a:srgbClr val="37415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函数职责需要单一，</a:t>
            </a:r>
            <a:r>
              <a:rPr lang="zh-CN" altLang="en-US" sz="1400" dirty="0">
                <a:solidFill>
                  <a:srgbClr val="40404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避免设计一个大而全的函数，避免函数或方法参数过多</a:t>
            </a:r>
            <a:endParaRPr lang="zh-CN" altLang="en-US" sz="1400" dirty="0">
              <a:solidFill>
                <a:srgbClr val="40404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zh-CN" sz="1400" dirty="0">
              <a:solidFill>
                <a:srgbClr val="374151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宋体" panose="02010600040101010101" pitchFamily="2" charset="-122"/>
                <a:ea typeface="华文宋体" panose="02010600040101010101" pitchFamily="2" charset="-122"/>
              </a:rPr>
              <a:t>命名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宋体" panose="02010600040101010101" pitchFamily="2" charset="-122"/>
                <a:ea typeface="华文宋体" panose="02010600040101010101" pitchFamily="2" charset="-122"/>
              </a:rPr>
              <a:t>: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zh-CN" sz="1400" dirty="0">
              <a:solidFill>
                <a:srgbClr val="374151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1400" b="0" i="0" dirty="0">
                <a:solidFill>
                  <a:srgbClr val="40404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关于命名长度，在能够表达含义的额情况下，命名当然是越短越好。</a:t>
            </a:r>
            <a:endParaRPr lang="en-US" altLang="zh-CN" sz="1400" b="0" i="0" dirty="0">
              <a:solidFill>
                <a:srgbClr val="40404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通用的缩写要统一，例如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var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obj</a:t>
            </a:r>
            <a:endParaRPr lang="en-US" altLang="zh-CN" sz="1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多个单词连在一起，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可以采用驼峰命名：例如 </a:t>
            </a:r>
            <a:r>
              <a:rPr lang="en-US" altLang="zh-CN" sz="1400" b="0" i="0" dirty="0">
                <a:solidFill>
                  <a:srgbClr val="20212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FirstName</a:t>
            </a:r>
            <a:endParaRPr lang="en-US" altLang="zh-CN" sz="1400" b="0" i="0" dirty="0">
              <a:solidFill>
                <a:srgbClr val="202122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140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避免使用易混淆的字符：如</a:t>
            </a:r>
            <a:r>
              <a:rPr lang="en-US" altLang="zh-CN" sz="1400" dirty="0">
                <a:solidFill>
                  <a:srgbClr val="2021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O(</a:t>
            </a:r>
            <a:r>
              <a:rPr lang="zh-CN" altLang="en-US" sz="1400" dirty="0">
                <a:solidFill>
                  <a:srgbClr val="2021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</a:t>
            </a:r>
            <a:r>
              <a:rPr lang="en-US" altLang="zh-CN" sz="1400" dirty="0">
                <a:solidFill>
                  <a:srgbClr val="2021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1400" dirty="0">
                <a:solidFill>
                  <a:srgbClr val="2021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）和</a:t>
            </a:r>
            <a:r>
              <a:rPr lang="en-US" altLang="zh-CN" sz="1400" dirty="0">
                <a:solidFill>
                  <a:srgbClr val="2021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1400" dirty="0">
                <a:solidFill>
                  <a:srgbClr val="2021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（数字</a:t>
            </a:r>
            <a:r>
              <a:rPr lang="en-US" altLang="zh-CN" sz="1400" dirty="0">
                <a:solidFill>
                  <a:srgbClr val="2021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1400" dirty="0">
                <a:solidFill>
                  <a:srgbClr val="2021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），</a:t>
            </a:r>
            <a:r>
              <a:rPr lang="en-US" altLang="zh-CN" sz="1400" dirty="0">
                <a:solidFill>
                  <a:srgbClr val="2021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en-US" sz="1400" dirty="0">
                <a:solidFill>
                  <a:srgbClr val="2021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（小写</a:t>
            </a:r>
            <a:r>
              <a:rPr lang="en-US" altLang="zh-CN" sz="1400" dirty="0">
                <a:solidFill>
                  <a:srgbClr val="2021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en-US" sz="1400" dirty="0">
                <a:solidFill>
                  <a:srgbClr val="2021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）和</a:t>
            </a:r>
            <a:r>
              <a:rPr lang="en-US" altLang="zh-CN" sz="1400" dirty="0">
                <a:solidFill>
                  <a:srgbClr val="2021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1400" dirty="0">
                <a:solidFill>
                  <a:srgbClr val="2021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大写（</a:t>
            </a:r>
            <a:r>
              <a:rPr lang="en-US" altLang="zh-CN" sz="1400" dirty="0" err="1">
                <a:solidFill>
                  <a:srgbClr val="2021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1400" dirty="0">
                <a:solidFill>
                  <a:srgbClr val="2021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6832" y="4227437"/>
            <a:ext cx="3649766" cy="7010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提高效率的一些方法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向量化      例： 勿使用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for loop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计算可向量化的值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勿重复计算  例：梯度和函数值中重复出现的中间值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稀疏矩阵乘法 ：稀疏矩阵可以加速计算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/>
              <a:t>一些优化代码的建议：</a:t>
            </a:r>
            <a:r>
              <a:rPr lang="en-US" altLang="zh-CN" dirty="0">
                <a:hlinkClick r:id="rId1"/>
              </a:rPr>
              <a:t>https://ww2.mathworks.cn/help/matlab/matlab_prog/techniques-for-improving-performance.html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effectLst/>
                <a:latin typeface="Söhne"/>
              </a:rPr>
              <a:t>测试和调试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704020202020204" pitchFamily="34" charset="0"/>
              <a:buChar char="•"/>
            </a:pPr>
            <a:r>
              <a:rPr lang="zh-CN" altLang="en-US" b="1" i="0" dirty="0">
                <a:solidFill>
                  <a:srgbClr val="37415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测试：可以针对局部模块进行简单测试</a:t>
            </a:r>
            <a:endParaRPr lang="en-US" altLang="zh-CN" b="1" i="0" dirty="0">
              <a:solidFill>
                <a:srgbClr val="37415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en-US" altLang="zh-CN" b="1" i="0" dirty="0">
                <a:solidFill>
                  <a:srgbClr val="37415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Debugging Tips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善于应用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Debugging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Profiling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牛顿法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Hessian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矩阵如下：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func>
                                <m:func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b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b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可以估计梯度的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Lipschitz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常数为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求解线性方程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 algn="ctr">
                  <a:buNone/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78" r="7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effectLst/>
                <a:latin typeface="Söhne"/>
              </a:rPr>
              <a:t>BFGS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704020202020204" pitchFamily="34" charset="0"/>
              <a:buChar char="•"/>
            </a:pPr>
            <a:r>
              <a:rPr lang="en-US" altLang="zh-CN" b="1" i="0" dirty="0">
                <a:solidFill>
                  <a:srgbClr val="374151"/>
                </a:solidFill>
                <a:effectLst/>
                <a:latin typeface="Söhne"/>
              </a:rPr>
              <a:t>Algorithm Steps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: Break down the BFGS algorithm into clear, sequential steps.</a:t>
            </a:r>
            <a:endParaRPr lang="en-US" altLang="zh-CN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en-US" altLang="zh-CN" b="1" i="0" dirty="0">
                <a:solidFill>
                  <a:srgbClr val="374151"/>
                </a:solidFill>
                <a:effectLst/>
                <a:latin typeface="Söhne"/>
              </a:rPr>
              <a:t>Updating Rules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: Clearly implement the BFGS updating rules for the approximate Hessian matrix and the solution vector.</a:t>
            </a:r>
            <a:endParaRPr lang="en-US" altLang="zh-CN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en-US" altLang="zh-CN" b="1" i="0" dirty="0">
                <a:solidFill>
                  <a:srgbClr val="374151"/>
                </a:solidFill>
                <a:effectLst/>
                <a:latin typeface="Söhne"/>
              </a:rPr>
              <a:t>Convergence Criteria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: Set and explain the criteria for convergence to stop the algorithm.</a:t>
            </a:r>
            <a:endParaRPr lang="en-US" altLang="zh-CN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要求可辩别收敛速率：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semilogy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作图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图片清晰，文字、线条可以达到打印清晰可见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一些工程技巧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线搜索中，每步初始步长可以延续上一个步骤的步长。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初始迭代步时，可以非精确求解。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Project 3</a:t>
            </a:r>
            <a:r>
              <a:rPr lang="zh-CN" altLang="en-US"/>
              <a:t>实验报告要求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总分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分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代码规范性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分：包括命名规范和函数模块化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正确性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分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实验报告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分：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简要说明相关量的计算方法，和你采用的加速技巧。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报告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a9a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的收敛速度图像，包括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函数值和最优值的差的收敛速度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梯度大小的收敛速度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报告 线搜索参数和收敛速度的简要关系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Project1</a:t>
            </a:r>
            <a:r>
              <a:rPr kumimoji="1" lang="zh-CN" altLang="en-US" dirty="0"/>
              <a:t> 线性规划要求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kumimoji="1" lang="zh-CN" altLang="en-US" dirty="0"/>
              <a:t>可以假设输入的线性规划必须是标准形式</a:t>
            </a:r>
            <a:endParaRPr kumimoji="1" lang="en-US" altLang="zh-CN" dirty="0"/>
          </a:p>
          <a:p>
            <a:pPr marL="0" indent="0"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总分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分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代码规范性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分（包括命名规范和函数模块化）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正确性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分：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kumimoji="1" lang="zh-CN" altLang="en-US" dirty="0"/>
              <a:t>模块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 检查</a:t>
            </a:r>
            <a:r>
              <a:rPr kumimoji="1" lang="en-US" altLang="zh-CN" dirty="0"/>
              <a:t>A</a:t>
            </a:r>
            <a:r>
              <a:rPr kumimoji="1" lang="zh-CN" altLang="en-US" dirty="0"/>
              <a:t>是否行慢秩，如果非满秩，移除多余的约束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模块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 初始化可行基解：大</a:t>
            </a:r>
            <a:r>
              <a:rPr kumimoji="1" lang="en-US" altLang="zh-CN" dirty="0"/>
              <a:t>M</a:t>
            </a:r>
            <a:r>
              <a:rPr kumimoji="1" lang="zh-CN" altLang="en-US" dirty="0"/>
              <a:t>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模块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：单纯形法的迭代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正确性还包括避免退化解循环，需要验证并写入报告。</a:t>
            </a:r>
            <a:endParaRPr kumimoji="1" lang="en-US" altLang="zh-CN" dirty="0"/>
          </a:p>
          <a:p>
            <a:pPr>
              <a:buFont typeface="Arial" panose="020B0704020202020204" pitchFamily="34" charset="0"/>
              <a:buChar char="•"/>
            </a:pPr>
            <a:r>
              <a:rPr kumimoji="1" lang="zh-CN" altLang="en-US" dirty="0"/>
              <a:t>实验报告</a:t>
            </a:r>
            <a:r>
              <a:rPr kumimoji="1" lang="en-US" altLang="zh-CN" dirty="0"/>
              <a:t>4</a:t>
            </a:r>
            <a:r>
              <a:rPr kumimoji="1" lang="zh-CN" altLang="en-US" dirty="0"/>
              <a:t>分</a:t>
            </a:r>
            <a:endParaRPr kumimoji="1" lang="en-US" altLang="zh-CN" dirty="0"/>
          </a:p>
          <a:p>
            <a:pPr lvl="1">
              <a:buFont typeface="Arial" panose="020B0704020202020204" pitchFamily="34" charset="0"/>
              <a:buChar char="•"/>
            </a:pPr>
            <a:r>
              <a:rPr kumimoji="1" lang="zh-CN" altLang="en-US" dirty="0"/>
              <a:t>说明各个模块中，是如何处理的，可以结合讲义。</a:t>
            </a:r>
            <a:endParaRPr kumimoji="1" lang="en-US" altLang="zh-CN" dirty="0"/>
          </a:p>
          <a:p>
            <a:pPr lvl="1">
              <a:buFont typeface="Arial" panose="020B0704020202020204" pitchFamily="34" charset="0"/>
              <a:buChar char="•"/>
            </a:pPr>
            <a:r>
              <a:rPr kumimoji="1" lang="zh-CN" altLang="en-US" dirty="0"/>
              <a:t>随机生成测试案例，报告求解时间随着问题规模的变化图像。每个规模的时间，需要对随机的</a:t>
            </a:r>
            <a:r>
              <a:rPr kumimoji="1" lang="en-US" altLang="zh-CN" dirty="0"/>
              <a:t>20</a:t>
            </a:r>
            <a:r>
              <a:rPr kumimoji="1" lang="zh-CN" altLang="en-US" dirty="0"/>
              <a:t>个测试案例取均值，</a:t>
            </a:r>
            <a:r>
              <a:rPr kumimoji="1" lang="zh-CN" altLang="en-US"/>
              <a:t>以及计算标准差。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3070</Words>
  <Application>WPS Presentation</Application>
  <PresentationFormat>宽屏</PresentationFormat>
  <Paragraphs>139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41" baseType="lpstr">
      <vt:lpstr>Arial</vt:lpstr>
      <vt:lpstr>宋体</vt:lpstr>
      <vt:lpstr>Wingdings</vt:lpstr>
      <vt:lpstr>Arial</vt:lpstr>
      <vt:lpstr>Söhne</vt:lpstr>
      <vt:lpstr>Thonburi</vt:lpstr>
      <vt:lpstr>楷体</vt:lpstr>
      <vt:lpstr>Cambria Math</vt:lpstr>
      <vt:lpstr>Kingsoft Math</vt:lpstr>
      <vt:lpstr>汉仪楷体KW</vt:lpstr>
      <vt:lpstr>华文宋体</vt:lpstr>
      <vt:lpstr>Garamond</vt:lpstr>
      <vt:lpstr>苹方-简</vt:lpstr>
      <vt:lpstr>DejaVu Math TeX Gyre</vt:lpstr>
      <vt:lpstr>方正舒体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Söhne</vt:lpstr>
      <vt:lpstr>Wingdings</vt:lpstr>
      <vt:lpstr>楷体</vt:lpstr>
      <vt:lpstr>Apple Color Emoji</vt:lpstr>
      <vt:lpstr>环保</vt:lpstr>
      <vt:lpstr> Overview of Logistic Regression</vt:lpstr>
      <vt:lpstr> The Mathematics Behind Logistic Regression</vt:lpstr>
      <vt:lpstr>PowerPoint 演示文稿</vt:lpstr>
      <vt:lpstr>Backtracking linesearch</vt:lpstr>
      <vt:lpstr>代码规范要求</vt:lpstr>
      <vt:lpstr>代码结构和组织</vt:lpstr>
      <vt:lpstr>提高效率的一些方法</vt:lpstr>
      <vt:lpstr>测试和调试</vt:lpstr>
      <vt:lpstr>牛顿法</vt:lpstr>
      <vt:lpstr>BFGS Algorithm</vt:lpstr>
      <vt:lpstr>作图</vt:lpstr>
      <vt:lpstr>一些工程技巧</vt:lpstr>
      <vt:lpstr>Project 3实验报告要求</vt:lpstr>
      <vt:lpstr>Project1 线性规划要求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士祥 陈</dc:creator>
  <cp:lastModifiedBy>胡</cp:lastModifiedBy>
  <cp:revision>211</cp:revision>
  <dcterms:created xsi:type="dcterms:W3CDTF">2025-01-09T02:38:11Z</dcterms:created>
  <dcterms:modified xsi:type="dcterms:W3CDTF">2025-01-09T02:38:11Z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79A3986AA7F27E4393367F679CE0E3BA_42</vt:lpwstr>
  </property>
  <property fmtid="{D5CDD505-2E9C-101B-9397-08002B2CF9AE}" pid="3" name="KSOProductBuildVer">
    <vt:lpwstr>1033-6.14.0.8924</vt:lpwstr>
  </property>
</Properties>
</file>